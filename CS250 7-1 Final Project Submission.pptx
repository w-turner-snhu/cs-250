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7E208A-8B0D-63C3-553E-27568C7D5314}" v="1366" dt="2026-10-26T02:14:01.5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/>
            <a:ahLst/>
            <a:cxnLst/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9961397C-706D-4EB8-B1E1-D1B680D284C3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766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6F81-747A-40C6-B81B-62F051B20082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833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/>
            <a:ahLst/>
            <a:cxnLst/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B19E114-DE0F-4D79-972B-16F4D1534B50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426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4ACAC3-7932-4379-B917-F7F78C6F24BE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43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9144B-27A2-4831-A05B-9434A462331E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130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950-DBB3-436C-A1DD-7D3C30A336E3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528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/>
            <a:ahLst/>
            <a:cxnLst/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DF8E-0DD2-43D3-8D07-9F3C411EACC9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186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97BB-FABD-465F-A92A-114DD4401A7A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98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6678-B47B-4355-B5D6-D7B9669114D3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78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/>
            <a:ahLst/>
            <a:cxnLst/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C4801C4-BD33-47CA-B204-FEE9BA7A0B92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0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/>
            <a:ahLst/>
            <a:cxnLst/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BBC631-32E9-41B5-A4D6-F9BADFAA6AF1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46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84DF367-E34D-4C28-A660-DCABBED01BCF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/>
            <a:ahLst/>
            <a:cxnLst/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2737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5489A3B8-AADB-439D-85B5-E9ACAFD37972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/>
            <a:ahLst/>
            <a:cxnLst/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9635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/>
            <a:ahLst/>
            <a:cxnLst/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8399-DE27-4A8B-8419-0512D16F4926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66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/>
            <a:ahLst/>
            <a:cxnLst/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F43114-67DF-4FA3-9285-385EAC7FCBCA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960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B0B5C10-8896-4A25-9ADC-0DE16BEA40F9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/>
            <a:ahLst/>
            <a:cxnLst/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0225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70D4BFA2-1BB9-40F7-B5CD-27AF3FC15B4F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/>
            <a:ahLst/>
            <a:cxnLst/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9259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/>
            <a:ahLst/>
            <a:cxnLst/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B68-2046-4562-B6CE-CDFAB3DC51F3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17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B35E-97D9-4AD8-9F03-F1A28F5EDD3F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8193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FC429-4D23-430E-9EDF-7373AE75BFEE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5673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E6B9-2D9C-4660-92C5-78965463CC8F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0463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9CE9-04E1-4A30-9610-62B3B25B32C1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9523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DEDC-8F58-44F8-A177-8A00C8A4C6DB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0442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2708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0539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F504-FC97-4D7A-ADA4-4D7971A47BF8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741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D06E-1834-4525-8B00-CED1355A3638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873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ED139-0480-4198-83E2-68CE0B25BC9B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68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BD47-5F5E-4508-9DFC-0021F20B392D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5718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C9DF407-AAD9-4F9F-B512-267BEB339CF5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10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  <p:sldLayoutId id="2147483846" r:id="rId18"/>
    <p:sldLayoutId id="2147483847" r:id="rId19"/>
    <p:sldLayoutId id="2147483848" r:id="rId20"/>
    <p:sldLayoutId id="2147483849" r:id="rId21"/>
    <p:sldLayoutId id="2147483850" r:id="rId22"/>
    <p:sldLayoutId id="2147483851" r:id="rId23"/>
    <p:sldLayoutId id="2147483852" r:id="rId24"/>
    <p:sldLayoutId id="2147483853" r:id="rId25"/>
    <p:sldLayoutId id="2147483854" r:id="rId26"/>
    <p:sldLayoutId id="2147483855" r:id="rId27"/>
    <p:sldLayoutId id="2147483856" r:id="rId28"/>
    <p:sldLayoutId id="2147483857" r:id="rId2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agile/project-management/user-stories?utm_source=chatgpt.com" TargetMode="External"/><Relationship Id="rId2" Type="http://schemas.openxmlformats.org/officeDocument/2006/relationships/hyperlink" Target="https://www.atlassian.com/blog/confluence/bring-everyone-together-with-jira-and-confluence" TargetMode="External"/><Relationship Id="rId1" Type="http://schemas.openxmlformats.org/officeDocument/2006/relationships/slideLayout" Target="../slideLayouts/slideLayout29.xml"/><Relationship Id="rId5" Type="http://schemas.openxmlformats.org/officeDocument/2006/relationships/hyperlink" Target="https://scrumguides.org/scrum-guide.html" TargetMode="External"/><Relationship Id="rId4" Type="http://schemas.openxmlformats.org/officeDocument/2006/relationships/hyperlink" Target="https://www.scrum.org/resources/blog/developers-accountability-scrum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46943"/>
            <a:ext cx="9144000" cy="2387600"/>
          </a:xfrm>
        </p:spPr>
        <p:txBody>
          <a:bodyPr/>
          <a:lstStyle/>
          <a:p>
            <a:r>
              <a:rPr lang="en-US"/>
              <a:t>Agile Software Development</a:t>
            </a:r>
            <a:br>
              <a:rPr lang="en-US" dirty="0"/>
            </a:br>
            <a:br>
              <a:rPr lang="en-US" dirty="0"/>
            </a:br>
            <a:r>
              <a:rPr lang="en-US" sz="2400"/>
              <a:t>Scrum, Agile, &amp; Waterfall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48393"/>
            <a:ext cx="9144000" cy="16557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200">
                <a:solidFill>
                  <a:schemeClr val="bg1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Wesley A. Turner</a:t>
            </a:r>
          </a:p>
          <a:p>
            <a:r>
              <a:rPr lang="en-US" sz="1200">
                <a:solidFill>
                  <a:schemeClr val="bg1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Southern New Hampshire University</a:t>
            </a:r>
            <a:endParaRPr lang="en-US" sz="1200">
              <a:solidFill>
                <a:schemeClr val="bg1"/>
              </a:solidFill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200">
                <a:solidFill>
                  <a:schemeClr val="bg1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CS – 250: Software Development Lifecycle</a:t>
            </a:r>
            <a:endParaRPr lang="en-US" sz="1200">
              <a:solidFill>
                <a:schemeClr val="bg1"/>
              </a:solidFill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200">
                <a:solidFill>
                  <a:schemeClr val="bg1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Prof. Judy Mason</a:t>
            </a:r>
            <a:endParaRPr lang="en-US" sz="1200">
              <a:solidFill>
                <a:schemeClr val="bg1"/>
              </a:solidFill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200">
                <a:solidFill>
                  <a:schemeClr val="bg1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October 25, 2026</a:t>
            </a:r>
            <a:endParaRPr lang="en-US" sz="1200">
              <a:solidFill>
                <a:schemeClr val="bg1"/>
              </a:solidFill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4D1C-8863-E880-D69C-8349EEC41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3" y="207166"/>
            <a:ext cx="10835640" cy="969264"/>
          </a:xfrm>
        </p:spPr>
        <p:txBody>
          <a:bodyPr/>
          <a:lstStyle/>
          <a:p>
            <a:r>
              <a:rPr lang="en-US" b="1" i="1" u="sng"/>
              <a:t>Scrum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12EE9-0DA8-95AE-F5CA-5F845B16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493" y="1183206"/>
            <a:ext cx="10835640" cy="54696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/>
              <a:t>Product Owner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n-US"/>
              <a:t>Gathers customer requirements</a:t>
            </a:r>
            <a:endParaRPr lang="en-US" dirty="0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/>
              <a:t>Prioritizes</a:t>
            </a:r>
            <a:r>
              <a:rPr lang="en-US" dirty="0"/>
              <a:t> the product backlog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1800" b="1"/>
              <a:t>Scrum Master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n-US" dirty="0"/>
              <a:t>Helps ensure scrum </a:t>
            </a:r>
            <a:r>
              <a:rPr lang="en-US"/>
              <a:t>practices</a:t>
            </a:r>
            <a:r>
              <a:rPr lang="en-US" dirty="0"/>
              <a:t> are followed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n-US" dirty="0"/>
              <a:t>Helps address </a:t>
            </a:r>
            <a:r>
              <a:rPr lang="en-US"/>
              <a:t>problems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/>
          </a:p>
          <a:p>
            <a:r>
              <a:rPr lang="en-US" sz="1800" b="1"/>
              <a:t>Developers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n-US"/>
              <a:t>Builds the software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n-US"/>
              <a:t>Completes sprint </a:t>
            </a:r>
            <a:r>
              <a:rPr lang="en-US">
                <a:ea typeface="+mn-lt"/>
                <a:cs typeface="+mn-lt"/>
              </a:rPr>
              <a:t>work</a:t>
            </a:r>
            <a:endParaRPr lang="en-US" sz="12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200" dirty="0">
              <a:ea typeface="+mn-lt"/>
              <a:cs typeface="+mn-lt"/>
            </a:endParaRPr>
          </a:p>
          <a:p>
            <a:pPr marL="228600" lvl="1" indent="0">
              <a:buNone/>
            </a:pPr>
            <a:endParaRPr lang="en-US" sz="1200" dirty="0">
              <a:ea typeface="+mn-lt"/>
              <a:cs typeface="+mn-lt"/>
            </a:endParaRPr>
          </a:p>
          <a:p>
            <a:pPr marL="228600" lvl="1" indent="0">
              <a:buNone/>
            </a:pPr>
            <a:r>
              <a:rPr lang="en-US" sz="1200" dirty="0">
                <a:ea typeface="+mn-lt"/>
                <a:cs typeface="+mn-lt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</a:t>
            </a:r>
          </a:p>
          <a:p>
            <a:pPr marL="228600" lvl="1" indent="0">
              <a:buNone/>
            </a:pPr>
            <a:endParaRPr lang="en-US" sz="1200" dirty="0">
              <a:ea typeface="+mn-lt"/>
              <a:cs typeface="+mn-lt"/>
            </a:endParaRPr>
          </a:p>
          <a:p>
            <a:pPr marL="228600" lvl="1" indent="0">
              <a:buNone/>
            </a:pPr>
            <a:r>
              <a:rPr lang="en-US" sz="1200">
                <a:ea typeface="+mn-lt"/>
                <a:cs typeface="+mn-lt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Source: (Schwaber &amp; Sutherland, </a:t>
            </a:r>
            <a:r>
              <a:rPr lang="en-US" sz="1200" dirty="0">
                <a:ea typeface="+mn-lt"/>
                <a:cs typeface="+mn-lt"/>
              </a:rPr>
              <a:t>2020)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575191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B45C-3A37-A617-422C-396B717EB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3" y="256327"/>
            <a:ext cx="10835640" cy="969264"/>
          </a:xfrm>
        </p:spPr>
        <p:txBody>
          <a:bodyPr/>
          <a:lstStyle/>
          <a:p>
            <a:r>
              <a:rPr lang="en-US" b="1" i="1" u="sng"/>
              <a:t>Software</a:t>
            </a:r>
            <a:r>
              <a:rPr lang="en-US" b="1" i="1" u="sng" dirty="0"/>
              <a:t> Development </a:t>
            </a:r>
            <a:r>
              <a:rPr lang="en-US" b="1" i="1" u="sng"/>
              <a:t>Lifecycle Phases</a:t>
            </a:r>
            <a:endParaRPr lang="en-US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994C4-FBAE-B8C2-434A-B571754B7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866981"/>
            <a:ext cx="10515600" cy="58261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ea typeface="+mn-lt"/>
                <a:cs typeface="+mn-lt"/>
              </a:rPr>
              <a:t>Planning</a:t>
            </a:r>
            <a:endParaRPr lang="en-US">
              <a:ea typeface="+mn-lt"/>
              <a:cs typeface="+mn-lt"/>
            </a:endParaRPr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Identify</a:t>
            </a:r>
            <a:r>
              <a:rPr lang="en-US" dirty="0">
                <a:ea typeface="+mn-lt"/>
                <a:cs typeface="+mn-lt"/>
              </a:rPr>
              <a:t> project goals and requirements</a:t>
            </a:r>
            <a:endParaRPr lang="en-US" dirty="0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Determine what the software needs to accomplish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+mn-lt"/>
              <a:cs typeface="+mn-lt"/>
            </a:endParaRPr>
          </a:p>
          <a:p>
            <a:r>
              <a:rPr lang="en-US" sz="1800" b="1">
                <a:ea typeface="+mn-lt"/>
                <a:cs typeface="+mn-lt"/>
              </a:rPr>
              <a:t>Analysis and Design</a:t>
            </a:r>
            <a:endParaRPr lang="en-US" sz="1800" b="1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Review user needs and requirements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Plan how the software should work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>
              <a:ea typeface="+mn-lt"/>
              <a:cs typeface="+mn-lt"/>
            </a:endParaRPr>
          </a:p>
          <a:p>
            <a:r>
              <a:rPr lang="en-US" sz="1800" b="1">
                <a:ea typeface="+mn-lt"/>
                <a:cs typeface="+mn-lt"/>
              </a:rPr>
              <a:t>Development and Testing</a:t>
            </a:r>
            <a:endParaRPr lang="en-US" sz="1800" b="1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Developers build the </a:t>
            </a:r>
            <a:r>
              <a:rPr lang="en-US">
                <a:ea typeface="+mn-lt"/>
                <a:cs typeface="+mn-lt"/>
              </a:rPr>
              <a:t>software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Testers</a:t>
            </a:r>
            <a:r>
              <a:rPr lang="en-US" dirty="0">
                <a:ea typeface="+mn-lt"/>
                <a:cs typeface="+mn-lt"/>
              </a:rPr>
              <a:t> check features and identify problems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>
              <a:ea typeface="+mn-lt"/>
              <a:cs typeface="+mn-lt"/>
            </a:endParaRPr>
          </a:p>
          <a:p>
            <a:r>
              <a:rPr lang="en-US" sz="1800" b="1">
                <a:ea typeface="+mn-lt"/>
                <a:cs typeface="+mn-lt"/>
              </a:rPr>
              <a:t>Implementation and Maintenance</a:t>
            </a:r>
            <a:endParaRPr lang="en-US" sz="1800" b="1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Release the software for users</a:t>
            </a:r>
            <a:endParaRPr lang="en-US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Fix problems and make updates as needed</a:t>
            </a:r>
            <a:endParaRPr lang="en-US"/>
          </a:p>
          <a:p>
            <a:pPr marL="0" indent="0">
              <a:buNone/>
            </a:pPr>
            <a:r>
              <a:rPr lang="en-US" sz="1200">
                <a:ea typeface="+mn-lt"/>
                <a:cs typeface="+mn-lt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Source: </a:t>
            </a:r>
            <a:r>
              <a:rPr lang="en-US" sz="1200" dirty="0">
                <a:ea typeface="+mn-lt"/>
                <a:cs typeface="+mn-lt"/>
              </a:rPr>
              <a:t>(Schwaber &amp; Sutherland, 2020)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55752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A660-CFDE-D375-AF29-90BCF1DA8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3" y="194875"/>
            <a:ext cx="10835640" cy="969264"/>
          </a:xfrm>
        </p:spPr>
        <p:txBody>
          <a:bodyPr/>
          <a:lstStyle/>
          <a:p>
            <a:r>
              <a:rPr lang="en-US" b="1" i="1" u="sng"/>
              <a:t>Agile –vs– Waterfall</a:t>
            </a:r>
            <a:r>
              <a:rPr lang="en-US" b="1" i="1" u="sng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62904-34CD-4898-0228-98702FE20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1948"/>
            <a:ext cx="10515600" cy="533456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 b="1">
                <a:ea typeface="+mn-lt"/>
                <a:cs typeface="+mn-lt"/>
              </a:rPr>
              <a:t>Agile</a:t>
            </a:r>
            <a:endParaRPr lang="en-US" sz="1800" b="1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Development happens in smaller stages called Sprints</a:t>
            </a:r>
            <a:endParaRPr lang="en-US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Team members review progress and receive feedback regularly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Requirements can change as the project develops</a:t>
            </a:r>
            <a:endParaRPr lang="en-US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Testing happens throughout development</a:t>
            </a:r>
            <a:endParaRPr lang="en-US"/>
          </a:p>
          <a:p>
            <a:pPr marL="228600" lvl="1" indent="0">
              <a:buNone/>
            </a:pPr>
            <a:endParaRPr lang="en-US" sz="1800" dirty="0">
              <a:ea typeface="+mn-lt"/>
              <a:cs typeface="+mn-lt"/>
            </a:endParaRPr>
          </a:p>
          <a:p>
            <a:r>
              <a:rPr lang="en-US" sz="1800" b="1">
                <a:ea typeface="+mn-lt"/>
                <a:cs typeface="+mn-lt"/>
              </a:rPr>
              <a:t>Waterfall</a:t>
            </a:r>
            <a:endParaRPr lang="en-US" sz="1800" b="1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Development follows a set sequence of phases</a:t>
            </a:r>
            <a:endParaRPr lang="en-US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Requirements are established early in the project</a:t>
            </a:r>
            <a:endParaRPr lang="en-US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Each phase is generally completed before the next begins</a:t>
            </a:r>
            <a:endParaRPr lang="en-US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Changes later in development can be more difficult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>
              <a:ea typeface="+mn-lt"/>
              <a:cs typeface="+mn-lt"/>
            </a:endParaRPr>
          </a:p>
          <a:p>
            <a:r>
              <a:rPr lang="en-US" sz="1800" b="1">
                <a:ea typeface="+mn-lt"/>
                <a:cs typeface="+mn-lt"/>
              </a:rPr>
              <a:t>Key Difference: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Agile allows frequent feedback and changes –vs– Waterfall</a:t>
            </a:r>
            <a:r>
              <a:rPr lang="en-US" dirty="0">
                <a:ea typeface="+mn-lt"/>
                <a:cs typeface="+mn-lt"/>
              </a:rPr>
              <a:t> follows a more structured plan</a:t>
            </a:r>
            <a:endParaRPr lang="en-US" dirty="0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</a:t>
            </a:r>
            <a:endParaRPr lang="en-US" sz="16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1200">
                <a:ea typeface="+mn-lt"/>
                <a:cs typeface="+mn-lt"/>
              </a:rPr>
              <a:t>Source: (Schwaber &amp; Sutherland, </a:t>
            </a:r>
            <a:r>
              <a:rPr lang="en-US" sz="1200" dirty="0">
                <a:ea typeface="+mn-lt"/>
                <a:cs typeface="+mn-lt"/>
              </a:rPr>
              <a:t>2020)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07661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67F9-4E69-1801-93AA-02DEEACE6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3" y="219456"/>
            <a:ext cx="10835640" cy="969264"/>
          </a:xfrm>
        </p:spPr>
        <p:txBody>
          <a:bodyPr/>
          <a:lstStyle/>
          <a:p>
            <a:r>
              <a:rPr lang="en-US" b="1" i="1" u="sng"/>
              <a:t>Choosing a Development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CCA83-BFC2-93C7-7EBF-67B01A3AC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045"/>
            <a:ext cx="10515600" cy="559265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CHOOSE.......</a:t>
            </a:r>
          </a:p>
          <a:p>
            <a:pPr marL="0" indent="0">
              <a:buNone/>
            </a:pPr>
            <a:endParaRPr lang="en-US" sz="2400" b="1" dirty="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 b="1">
                <a:ea typeface="+mn-lt"/>
                <a:cs typeface="+mn-lt"/>
              </a:rPr>
              <a:t>Agile When:</a:t>
            </a:r>
            <a:endParaRPr lang="en-US" sz="1800" b="1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Customer requirements may change</a:t>
            </a:r>
            <a:endParaRPr lang="en-US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Regular feedback is important</a:t>
            </a:r>
            <a:endParaRPr lang="en-US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The team needs to test and improve features throughout development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 b="1">
                <a:ea typeface="+mn-lt"/>
                <a:cs typeface="+mn-lt"/>
              </a:rPr>
              <a:t>Waterfall When:</a:t>
            </a:r>
            <a:endParaRPr lang="en-US" sz="1800" b="1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Requirements are clear and unlikely to change</a:t>
            </a:r>
            <a:endParaRPr lang="en-US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The project follows a defined sequence of steps</a:t>
            </a:r>
            <a:endParaRPr lang="en-US"/>
          </a:p>
          <a:p>
            <a:pPr lvl="4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Planning and documentation are established early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SNHU Travel: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Agile was a good fit because the team needed to understand customer needs, test individual features, and make adjustments when requirements changed.</a:t>
            </a:r>
            <a:r>
              <a:rPr lang="en-US" sz="1600" dirty="0">
                <a:ea typeface="+mn-lt"/>
                <a:cs typeface="+mn-lt"/>
              </a:rPr>
              <a:t>     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                                                                                                                                      </a:t>
            </a:r>
            <a:r>
              <a:rPr lang="en-US" sz="1200">
                <a:ea typeface="+mn-lt"/>
                <a:cs typeface="+mn-lt"/>
              </a:rPr>
              <a:t>Source: (Schwaber &amp; </a:t>
            </a:r>
            <a:r>
              <a:rPr lang="en-US" sz="1200" dirty="0">
                <a:ea typeface="+mn-lt"/>
                <a:cs typeface="+mn-lt"/>
              </a:rPr>
              <a:t>Sutherland, 2020)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22371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E9EC-07D7-76F5-F4B6-267F0A2B7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3" y="268617"/>
            <a:ext cx="10835640" cy="969264"/>
          </a:xfrm>
        </p:spPr>
        <p:txBody>
          <a:bodyPr/>
          <a:lstStyle/>
          <a:p>
            <a:r>
              <a:rPr lang="en-US" b="1" i="1" u="sng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87FDE-2D53-A0E6-E910-CBE8D5FF5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1235688"/>
            <a:ext cx="10515600" cy="42775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>
                <a:highlight>
                  <a:srgbClr val="FFFFFF"/>
                </a:highlight>
                <a:latin typeface="Neue Haas Grotesk Text Pro"/>
                <a:cs typeface="Times New Roman"/>
              </a:rPr>
              <a:t>Atlassian. (2023, October 16). </a:t>
            </a:r>
            <a:r>
              <a:rPr lang="en-US" sz="1600" i="1">
                <a:highlight>
                  <a:srgbClr val="FFFFFF"/>
                </a:highlight>
                <a:latin typeface="Neue Haas Grotesk Text Pro"/>
                <a:cs typeface="Times New Roman"/>
              </a:rPr>
              <a:t>Bring everything (&amp; everyone) together in Jira and Confluence</a:t>
            </a:r>
            <a:r>
              <a:rPr lang="en-US" sz="1600">
                <a:highlight>
                  <a:srgbClr val="FFFFFF"/>
                </a:highlight>
                <a:latin typeface="Neue Haas Grotesk Text Pro"/>
                <a:cs typeface="Times New Roman"/>
              </a:rPr>
              <a:t>. </a:t>
            </a:r>
            <a:r>
              <a:rPr lang="en-US" sz="1600" u="sng" dirty="0">
                <a:solidFill>
                  <a:srgbClr val="0070C0"/>
                </a:solidFill>
                <a:highlight>
                  <a:srgbClr val="FFFFFF"/>
                </a:highlight>
                <a:latin typeface="Neue Haas Grotesk Text Pro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https://www.atlassian.com/blog/confluence/bring-everyone-together-with-jira-and-confluence</a:t>
            </a:r>
            <a:endParaRPr lang="en-US" sz="1600" u="sng" dirty="0">
              <a:solidFill>
                <a:srgbClr val="0070C0"/>
              </a:solidFill>
              <a:highlight>
                <a:srgbClr val="FFFFFF"/>
              </a:highlight>
              <a:latin typeface="Neue Haas Grotesk Text Pro"/>
              <a:cs typeface="Times New Roman"/>
            </a:endParaRPr>
          </a:p>
          <a:p>
            <a:endParaRPr lang="en-US" sz="1600" u="sng" dirty="0">
              <a:solidFill>
                <a:srgbClr val="0070C0"/>
              </a:solidFill>
              <a:highlight>
                <a:srgbClr val="FFFFFF"/>
              </a:highlight>
              <a:latin typeface="Neue Haas Grotesk Text Pro"/>
              <a:cs typeface="Times New Roman"/>
            </a:endParaRPr>
          </a:p>
          <a:p>
            <a:r>
              <a:rPr lang="en-US" sz="1600">
                <a:highlight>
                  <a:srgbClr val="FFFFFF"/>
                </a:highlight>
                <a:latin typeface="Neue Haas Grotesk Text Pro"/>
                <a:cs typeface="Times New Roman"/>
              </a:rPr>
              <a:t>Atlassian. (2026). </a:t>
            </a:r>
            <a:r>
              <a:rPr lang="en-US" sz="1600" i="1">
                <a:highlight>
                  <a:srgbClr val="FFFFFF"/>
                </a:highlight>
                <a:latin typeface="Neue Haas Grotesk Text Pro"/>
                <a:cs typeface="Times New Roman"/>
              </a:rPr>
              <a:t>User stories with examples and a template</a:t>
            </a:r>
            <a:r>
              <a:rPr lang="en-US" sz="1600">
                <a:highlight>
                  <a:srgbClr val="FFFFFF"/>
                </a:highlight>
                <a:latin typeface="Neue Haas Grotesk Text Pro"/>
                <a:cs typeface="Times New Roman"/>
              </a:rPr>
              <a:t>. </a:t>
            </a:r>
            <a:r>
              <a:rPr lang="en-US" sz="1600" u="sng" dirty="0">
                <a:solidFill>
                  <a:srgbClr val="0070C0"/>
                </a:solidFill>
                <a:highlight>
                  <a:srgbClr val="FFFFFF"/>
                </a:highlight>
                <a:latin typeface="Neue Haas Grotesk Text Pro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https://www.atlassian.com/agile/project-management/user-stories</a:t>
            </a:r>
            <a:endParaRPr lang="en-US" sz="1600">
              <a:solidFill>
                <a:srgbClr val="0070C0"/>
              </a:solidFill>
              <a:highlight>
                <a:srgbClr val="C6C6C6"/>
              </a:highlight>
              <a:latin typeface="Neue Haas Grotesk Text Pro"/>
              <a:cs typeface="Times New Roman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1600" u="sng" dirty="0">
              <a:highlight>
                <a:srgbClr val="FFFFFF"/>
              </a:highlight>
              <a:latin typeface="Neue Haas Grotesk Text Pro"/>
              <a:cs typeface="Times New Roman"/>
            </a:endParaRPr>
          </a:p>
          <a:p>
            <a:r>
              <a:rPr lang="en-US" sz="1600" dirty="0">
                <a:latin typeface="Neue Haas Grotesk Text Pro"/>
                <a:cs typeface="Times New Roman"/>
              </a:rPr>
              <a:t>Coleman, J. (2024, October 17). </a:t>
            </a:r>
            <a:r>
              <a:rPr lang="en-US" sz="1600" i="1" dirty="0">
                <a:latin typeface="Neue Haas Grotesk Text Pro"/>
                <a:cs typeface="Times New Roman"/>
              </a:rPr>
              <a:t>Developers accountability in Scrum</a:t>
            </a:r>
            <a:r>
              <a:rPr lang="en-US" sz="1600" dirty="0">
                <a:latin typeface="Neue Haas Grotesk Text Pro"/>
                <a:cs typeface="Times New Roman"/>
              </a:rPr>
              <a:t>. Scrum.org. </a:t>
            </a:r>
            <a:r>
              <a:rPr lang="en-US" sz="1600" u="sng" dirty="0">
                <a:solidFill>
                  <a:srgbClr val="0070C0"/>
                </a:solidFill>
                <a:highlight>
                  <a:srgbClr val="FFFFFF"/>
                </a:highlight>
                <a:latin typeface="Neue Haas Grotesk Text Pro"/>
                <a:cs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https://www.scrum.org/resources/blog/developers-accountability-scrum</a:t>
            </a:r>
            <a:endParaRPr lang="en-US" sz="1600" u="sng" dirty="0">
              <a:solidFill>
                <a:srgbClr val="0070C0"/>
              </a:solidFill>
              <a:highlight>
                <a:srgbClr val="FFFFFF"/>
              </a:highlight>
              <a:latin typeface="Neue Haas Grotesk Text Pro"/>
              <a:cs typeface="Times New Roman"/>
            </a:endParaRPr>
          </a:p>
          <a:p>
            <a:endParaRPr lang="en-US" sz="1600" u="sng" dirty="0">
              <a:highlight>
                <a:srgbClr val="FFFFFF"/>
              </a:highlight>
              <a:latin typeface="Neue Haas Grotesk Text Pro"/>
              <a:cs typeface="Times New Roman"/>
            </a:endParaRPr>
          </a:p>
          <a:p>
            <a:r>
              <a:rPr lang="en-US" sz="1600">
                <a:highlight>
                  <a:srgbClr val="FFFFFF"/>
                </a:highlight>
                <a:latin typeface="Neue Haas Grotesk Text Pro"/>
                <a:cs typeface="Times New Roman"/>
              </a:rPr>
              <a:t>Schwaber, K., &amp; Sutherland, J. (2020). </a:t>
            </a:r>
            <a:r>
              <a:rPr lang="en-US" sz="1600" i="1">
                <a:highlight>
                  <a:srgbClr val="FFFFFF"/>
                </a:highlight>
                <a:latin typeface="Neue Haas Grotesk Text Pro"/>
                <a:cs typeface="Times New Roman"/>
              </a:rPr>
              <a:t>The Scrum Guide: The definitive guide to Scrum: The rules of the game</a:t>
            </a:r>
            <a:r>
              <a:rPr lang="en-US" sz="1600">
                <a:highlight>
                  <a:srgbClr val="FFFFFF"/>
                </a:highlight>
                <a:latin typeface="Neue Haas Grotesk Text Pro"/>
                <a:cs typeface="Times New Roman"/>
              </a:rPr>
              <a:t>. Scrum Guides.</a:t>
            </a:r>
            <a:r>
              <a:rPr lang="en-US" sz="1600" dirty="0">
                <a:solidFill>
                  <a:srgbClr val="0070C0"/>
                </a:solidFill>
                <a:highlight>
                  <a:srgbClr val="FFFFFF"/>
                </a:highlight>
                <a:latin typeface="Neue Haas Grotesk Text Pro"/>
                <a:cs typeface="Times New Roman"/>
              </a:rPr>
              <a:t> </a:t>
            </a:r>
            <a:r>
              <a:rPr lang="en-US" sz="1600" u="sng" dirty="0">
                <a:solidFill>
                  <a:srgbClr val="0070C0"/>
                </a:solidFill>
                <a:highlight>
                  <a:srgbClr val="FFFFFF"/>
                </a:highlight>
                <a:latin typeface="Neue Haas Grotesk Text Pro"/>
                <a:cs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https://scrumguides.org/scrum-guide.html</a:t>
            </a:r>
            <a:endParaRPr lang="en-US" sz="1600">
              <a:solidFill>
                <a:srgbClr val="0070C0"/>
              </a:solidFill>
              <a:highlight>
                <a:srgbClr val="C6C6C6"/>
              </a:highlight>
              <a:latin typeface="Neue Haas Grotesk Text Pro"/>
              <a:cs typeface="Times New Roman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223811021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Dun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un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563B7B1E-6862-4478-911D-ABB9DC11CD1A}" vid="{CC37CDAD-DAB9-4025-984B-9D6BBBE1BB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Dune</vt:lpstr>
      <vt:lpstr>Agile Software Development  Scrum, Agile, &amp; Waterfall</vt:lpstr>
      <vt:lpstr>Scrum Roles</vt:lpstr>
      <vt:lpstr>Software Development Lifecycle Phases</vt:lpstr>
      <vt:lpstr>Agile –vs– Waterfall </vt:lpstr>
      <vt:lpstr>Choosing a Development Approach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257</cp:revision>
  <dcterms:created xsi:type="dcterms:W3CDTF">2026-10-26T01:36:05Z</dcterms:created>
  <dcterms:modified xsi:type="dcterms:W3CDTF">2026-10-26T04:07:24Z</dcterms:modified>
</cp:coreProperties>
</file>